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0" r:id="rId9"/>
    <p:sldId id="297" r:id="rId10"/>
    <p:sldId id="291" r:id="rId11"/>
    <p:sldId id="292" r:id="rId12"/>
    <p:sldId id="293" r:id="rId13"/>
    <p:sldId id="294" r:id="rId14"/>
    <p:sldId id="295" r:id="rId15"/>
    <p:sldId id="296" r:id="rId16"/>
    <p:sldId id="262" r:id="rId17"/>
    <p:sldId id="264" r:id="rId18"/>
    <p:sldId id="286" r:id="rId19"/>
    <p:sldId id="287" r:id="rId20"/>
    <p:sldId id="280" r:id="rId21"/>
    <p:sldId id="288" r:id="rId22"/>
    <p:sldId id="289" r:id="rId23"/>
    <p:sldId id="27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  <p1510:client id="{CF376E3E-16AD-B220-DB03-D7511C5FAE25}" v="445" dt="2026-06-19T10:18:38.869"/>
    <p1510:client id="{E27D249D-B118-0810-7731-E1B1C378D9D3}" v="5" dt="2026-06-19T09:10:10.53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8AA45C4-2AC1-8517-1BC6-B4D76161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A1C5246-838D-B804-A56B-BC9B52B15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30678B-9A26-414A-24D2-5EADEA30F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9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ushree-RJ/IBM_NBA_Agent.gi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Cloud and Orchestrate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93533567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Anushree Ramesh </a:t>
                      </a:r>
                      <a:r>
                        <a:rPr lang="en-US" dirty="0" err="1"/>
                        <a:t>Jodangi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Shri.anii02@gmail.com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8197609291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[ Education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[</a:t>
            </a:r>
            <a:r>
              <a:rPr lang="en-US" sz="2400" dirty="0" err="1"/>
              <a:t>AccrediAI</a:t>
            </a:r>
            <a:r>
              <a:rPr lang="en-US" sz="2400" dirty="0"/>
              <a:t> – AI Agent for NBA Accreditation]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B4440-5DEE-FBDF-41AF-535F6800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451" y="3571859"/>
            <a:ext cx="779275" cy="10527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866576"/>
            <a:ext cx="1060704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: </a:t>
            </a:r>
            <a:r>
              <a:rPr lang="en-US" sz="2000" dirty="0"/>
              <a:t>AI Agent designed to assist faculty with NBA accreditation processes (RAG Based)</a:t>
            </a:r>
          </a:p>
          <a:p>
            <a:pPr fontAlgn="base"/>
            <a:endParaRPr lang="en-US" sz="2000" b="1" dirty="0"/>
          </a:p>
          <a:p>
            <a:pPr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Faculty members spend significant time searching through NBA criteria, formats, guidelines and previous accreditation documents. Preparing SAR documents and performing CO–PO mapping can be complex, time-consuming and prone to inconsistency.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</a:p>
          <a:p>
            <a:r>
              <a:rPr lang="en-US" sz="2000" dirty="0"/>
              <a:t>Develop a RAG-based AI agent that:</a:t>
            </a:r>
          </a:p>
          <a:p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Retrieves relevant NBA criteria and guidelines.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context-aware answers to faculty queries.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Assists in SAR preparation.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CO–PO mapping.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Retrieves relevant past documentation and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Reduces manual effort and improves consistency.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236002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Proposed Solution: </a:t>
            </a:r>
            <a:r>
              <a:rPr lang="en-US" sz="2000" b="1" dirty="0" err="1"/>
              <a:t>AccrediAI</a:t>
            </a:r>
            <a:r>
              <a:rPr lang="en-US" sz="2000" b="1" dirty="0"/>
              <a:t> – NBA Accreditation Assistant</a:t>
            </a:r>
          </a:p>
          <a:p>
            <a:endParaRPr lang="en-US" sz="2000" dirty="0"/>
          </a:p>
          <a:p>
            <a:r>
              <a:rPr lang="en-US" sz="2000" dirty="0" err="1"/>
              <a:t>AccrediAI</a:t>
            </a:r>
            <a:r>
              <a:rPr lang="en-US" sz="2000" dirty="0"/>
              <a:t> is a </a:t>
            </a:r>
            <a:r>
              <a:rPr lang="en-US" sz="2000" b="1" dirty="0"/>
              <a:t>RAG-based Agentic AI assistant</a:t>
            </a:r>
            <a:r>
              <a:rPr lang="en-US" sz="2000" dirty="0"/>
              <a:t> designed to help faculty with NBA accreditation activities.</a:t>
            </a:r>
          </a:p>
          <a:p>
            <a:r>
              <a:rPr lang="en-US" sz="2000" dirty="0"/>
              <a:t>The system retrieves relevant information from trusted NBA guidelines, accreditation documents, institutional records and previous documentation. The retrieved information is provided as context to </a:t>
            </a:r>
            <a:r>
              <a:rPr lang="en-US" sz="2000" b="1" dirty="0"/>
              <a:t>IBM Granite</a:t>
            </a:r>
            <a:r>
              <a:rPr lang="en-US" sz="2000" dirty="0"/>
              <a:t>, which generates grounded and relevant responses.</a:t>
            </a:r>
          </a:p>
          <a:p>
            <a:endParaRPr lang="en-US" sz="2000" dirty="0"/>
          </a:p>
          <a:p>
            <a:r>
              <a:rPr lang="en-US" sz="2000" b="1" dirty="0"/>
              <a:t>Key Functions:</a:t>
            </a:r>
          </a:p>
          <a:p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NBA guideline and criteria retrieval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SAR preparation assistance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CO–PO mapping support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Document-based question answering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Relevant format/document retrieval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Context-aware AI responses 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Granite</a:t>
            </a:r>
            <a:r>
              <a:rPr lang="en-US" sz="2000" dirty="0"/>
              <a:t> – Natural language understanding, reasoning and response generation </a:t>
            </a:r>
          </a:p>
          <a:p>
            <a:pPr lvl="0"/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Cloud</a:t>
            </a:r>
            <a:r>
              <a:rPr lang="en-US" sz="2000" dirty="0"/>
              <a:t> – Cloud infrastructure for developing and deploying the AI solution </a:t>
            </a:r>
          </a:p>
          <a:p>
            <a:pPr lvl="0"/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RAG (Retrieval-Augmented Generation)</a:t>
            </a:r>
            <a:r>
              <a:rPr lang="en-US" sz="2000" dirty="0"/>
              <a:t> – Retrieves relevant NBA information before generating answers </a:t>
            </a:r>
          </a:p>
          <a:p>
            <a:pPr lvl="0"/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Vector Database</a:t>
            </a:r>
            <a:r>
              <a:rPr lang="en-US" sz="2000" dirty="0"/>
              <a:t> – Stores document embeddings for semantic search</a:t>
            </a:r>
          </a:p>
          <a:p>
            <a:pPr lvl="0"/>
            <a:r>
              <a:rPr lang="en-US" sz="20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LangFlow</a:t>
            </a:r>
            <a:r>
              <a:rPr lang="en-US" sz="2000" b="1" dirty="0"/>
              <a:t> / Orchestrate</a:t>
            </a:r>
            <a:r>
              <a:rPr lang="en-US" sz="2000" dirty="0"/>
              <a:t> – For designing and orchestrating the AI workflow</a:t>
            </a:r>
          </a:p>
          <a:p>
            <a:pPr lvl="0"/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watsonx.ai</a:t>
            </a:r>
            <a:r>
              <a:rPr lang="en-US" sz="2000" dirty="0"/>
              <a:t> – AI model deployment and AI workflow support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Orchestrate component</a:t>
            </a:r>
            <a:r>
              <a:rPr lang="en-US" sz="2400" b="1" dirty="0">
                <a:sym typeface="Times New Roman"/>
              </a:rPr>
              <a:t>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731247" y="771747"/>
            <a:ext cx="8910593" cy="7131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b="1" dirty="0"/>
              <a:t>1) Chat Input</a:t>
            </a:r>
            <a:br>
              <a:rPr lang="en-US" sz="2000" dirty="0"/>
            </a:br>
            <a:r>
              <a:rPr lang="en-US" sz="2000" dirty="0"/>
              <a:t>Faculty enters questions related to NBA criteria, SAR, CO–PO mapping or documentation.</a:t>
            </a:r>
          </a:p>
          <a:p>
            <a:r>
              <a:rPr lang="en-US" sz="2000" b="1" dirty="0"/>
              <a:t>2) IBM </a:t>
            </a:r>
            <a:r>
              <a:rPr lang="en-US" sz="2000" b="1" dirty="0" err="1"/>
              <a:t>watsonx</a:t>
            </a:r>
            <a:r>
              <a:rPr lang="en-US" sz="2000" b="1" dirty="0"/>
              <a:t> AI Agent</a:t>
            </a:r>
            <a:br>
              <a:rPr lang="en-US" sz="2000" dirty="0"/>
            </a:br>
            <a:r>
              <a:rPr lang="en-US" sz="2000" dirty="0"/>
              <a:t>Processes the faculty query and coordinates the AI workflow.</a:t>
            </a:r>
          </a:p>
          <a:p>
            <a:r>
              <a:rPr lang="en-US" sz="2000" b="1" dirty="0"/>
              <a:t>3) IBM Granite Model</a:t>
            </a:r>
            <a:br>
              <a:rPr lang="en-US" sz="2000" dirty="0"/>
            </a:br>
            <a:r>
              <a:rPr lang="en-US" sz="2000" dirty="0"/>
              <a:t>Generates context-aware responses using the retrieved NBA information.</a:t>
            </a:r>
          </a:p>
          <a:p>
            <a:r>
              <a:rPr lang="en-US" sz="2000" b="1" dirty="0"/>
              <a:t>4) RAG / Document Retrieval Component</a:t>
            </a:r>
            <a:br>
              <a:rPr lang="en-US" sz="2000" dirty="0"/>
            </a:br>
            <a:r>
              <a:rPr lang="en-US" sz="2000" dirty="0"/>
              <a:t>Retrieves relevant information from uploaded NBA documents and institutional resources.</a:t>
            </a:r>
          </a:p>
          <a:p>
            <a:r>
              <a:rPr lang="en-US" sz="2000" b="1" dirty="0"/>
              <a:t>5) File Component</a:t>
            </a:r>
            <a:br>
              <a:rPr lang="en-US" sz="2000" dirty="0"/>
            </a:br>
            <a:r>
              <a:rPr lang="en-US" sz="2000" dirty="0"/>
              <a:t>Stores and provides access to NBA guidelines, formats and supporting documents.</a:t>
            </a:r>
          </a:p>
          <a:p>
            <a:r>
              <a:rPr lang="en-US" sz="2000" b="1" dirty="0"/>
              <a:t>6) Chat Output</a:t>
            </a:r>
            <a:br>
              <a:rPr lang="en-US" sz="2000" dirty="0"/>
            </a:br>
            <a:r>
              <a:rPr lang="en-US" sz="2000" dirty="0"/>
              <a:t>Displays the generated answer, guidance, relevant criteria and documentation suggestions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Agent Instructions Screenshot-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8C252-B191-6E54-FD6F-BEE87E86D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39" y="806100"/>
            <a:ext cx="9369521" cy="573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458060A-E278-BD66-87FB-2E75164B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9A3EBD-BCB6-DE9E-33E9-089E4FA73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4156"/>
            <a:ext cx="10271760" cy="571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DC251-5691-D778-AAB0-D6D283EC6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13022"/>
            <a:ext cx="10637520" cy="57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38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ym typeface="Times New Roman"/>
              </a:rPr>
              <a:t>Prompt with output Screenshot: 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54AABB-FACF-0929-6487-9040FE28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04704"/>
            <a:ext cx="9123680" cy="45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3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ym typeface="Times New Roman"/>
              </a:rPr>
              <a:t>Other Applicable Screenshots: 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E0EEB-A201-3099-A7D8-950747FFE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" y="1168315"/>
            <a:ext cx="10251440" cy="50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5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911C2-2020-E3C4-F48E-5B4A33E4D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85358"/>
            <a:ext cx="10007600" cy="539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04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0A982-E3D5-419C-4ED7-2CAB6FD1F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837762"/>
            <a:ext cx="10840720" cy="540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5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C94DD-BEAB-6EA8-8D7D-4757953B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19704"/>
            <a:ext cx="10363200" cy="55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6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CCC8D-0769-343E-07AF-62562EC9F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12518"/>
            <a:ext cx="11409680" cy="576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8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 architecture blueprint</a:t>
            </a:r>
            <a:endParaRPr lang="en-US" sz="240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36BA9-3154-23C4-6C6D-6548B238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85" y="1023257"/>
            <a:ext cx="11332029" cy="53231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</a:t>
            </a:r>
            <a:r>
              <a:rPr lang="en-US" sz="2000" b="1" dirty="0" err="1"/>
              <a:t>AccrediAI</a:t>
            </a:r>
            <a:endParaRPr lang="en-US" sz="2000" b="1" dirty="0"/>
          </a:p>
          <a:p>
            <a:endParaRPr lang="en-US" sz="2000" dirty="0"/>
          </a:p>
          <a:p>
            <a:r>
              <a:rPr lang="en-US" sz="2000" dirty="0"/>
              <a:t>Agentic AI enables the system to act as an intelligent accreditation assistant rather than a basic chatbot.</a:t>
            </a:r>
          </a:p>
          <a:p>
            <a:endParaRPr lang="en-US" sz="2000" dirty="0"/>
          </a:p>
          <a:p>
            <a:r>
              <a:rPr lang="en-US" sz="2000" dirty="0"/>
              <a:t>It: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Understands faculty queries.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Retrieves relevant NBA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Uses multiple sources of documentation.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context-aware responses.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Assists with SAR preparation.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CO–PO mapping.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Reduces repetitive manual document searching.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02920" y="1251856"/>
            <a:ext cx="11186160" cy="4787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RAG-Based Accreditation Assistance</a:t>
            </a:r>
            <a:br>
              <a:rPr lang="en-US" sz="2000" dirty="0"/>
            </a:br>
            <a:r>
              <a:rPr lang="en-US" sz="2000" dirty="0"/>
              <a:t>Uses retrieved NBA documents to provide grounded responses.</a:t>
            </a:r>
          </a:p>
          <a:p>
            <a:r>
              <a:rPr lang="en-US" sz="2000" b="1" dirty="0"/>
              <a:t>2. NBA-Specific Knowledge</a:t>
            </a:r>
            <a:br>
              <a:rPr lang="en-US" sz="2000" dirty="0"/>
            </a:br>
            <a:r>
              <a:rPr lang="en-US" sz="2000" dirty="0"/>
              <a:t>Focused specifically on NBA accreditation requirements.</a:t>
            </a:r>
          </a:p>
          <a:p>
            <a:r>
              <a:rPr lang="en-US" sz="2000" b="1" dirty="0"/>
              <a:t>3. SAR Preparation Support</a:t>
            </a:r>
            <a:br>
              <a:rPr lang="en-US" sz="2000" dirty="0"/>
            </a:br>
            <a:r>
              <a:rPr lang="en-US" sz="2000" dirty="0"/>
              <a:t>Helps faculty understand and prepare relevant SAR content.</a:t>
            </a:r>
          </a:p>
          <a:p>
            <a:r>
              <a:rPr lang="en-US" sz="2000" b="1" dirty="0"/>
              <a:t>4. CO–PO Mapping Assistance</a:t>
            </a:r>
            <a:br>
              <a:rPr lang="en-US" sz="2000" dirty="0"/>
            </a:br>
            <a:r>
              <a:rPr lang="en-US" sz="2000" dirty="0"/>
              <a:t>Provides guidance for curriculum outcome mapping.</a:t>
            </a:r>
          </a:p>
          <a:p>
            <a:r>
              <a:rPr lang="en-US" sz="2000" b="1" dirty="0"/>
              <a:t>5. Document Intelligence</a:t>
            </a:r>
            <a:br>
              <a:rPr lang="en-US" sz="2000" dirty="0"/>
            </a:br>
            <a:r>
              <a:rPr lang="en-US" sz="2000" dirty="0"/>
              <a:t>Allows faculty to interact with large accreditation documents using natural language.</a:t>
            </a:r>
          </a:p>
          <a:p>
            <a:r>
              <a:rPr lang="en-US" sz="2000" b="1" dirty="0"/>
              <a:t>6. Reduced Manual Effort</a:t>
            </a:r>
            <a:br>
              <a:rPr lang="en-US" sz="2000" dirty="0"/>
            </a:br>
            <a:r>
              <a:rPr lang="en-US" sz="2000" dirty="0"/>
              <a:t>Reduces the time spent searching through multiple guidelines and documents.</a:t>
            </a:r>
          </a:p>
          <a:p>
            <a:r>
              <a:rPr lang="en-US" sz="2000" b="1" dirty="0"/>
              <a:t>7. IBM Granite + IBM Cloud</a:t>
            </a:r>
            <a:br>
              <a:rPr lang="en-US" sz="2000" dirty="0"/>
            </a:br>
            <a:r>
              <a:rPr lang="en-US" sz="2000" dirty="0"/>
              <a:t>Uses IBM's AI and cloud technologies as required by the problem statement.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 </a:t>
            </a:r>
            <a:r>
              <a:rPr lang="en-US" sz="200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https://github.com/Anushree-RJ/IBM_NBA_Agent.git</a:t>
            </a:r>
            <a:endParaRPr lang="en-US" sz="20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yourproblemstatement.pdf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4)any other files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1. Automated SAR Draft Generation</a:t>
            </a:r>
            <a:br>
              <a:rPr lang="en-US" sz="2000" dirty="0"/>
            </a:br>
            <a:r>
              <a:rPr lang="en-US" sz="2000" dirty="0"/>
              <a:t>Generate initial SAR sections based on institutional data.</a:t>
            </a:r>
          </a:p>
          <a:p>
            <a:r>
              <a:rPr lang="en-US" sz="2000" b="1" dirty="0"/>
              <a:t>2. Advanced CO–PO Mapping</a:t>
            </a:r>
            <a:br>
              <a:rPr lang="en-US" sz="2000" dirty="0"/>
            </a:br>
            <a:r>
              <a:rPr lang="en-US" sz="2000" dirty="0"/>
              <a:t>Automatically suggest mappings using course outcomes and program outcomes.</a:t>
            </a:r>
          </a:p>
          <a:p>
            <a:r>
              <a:rPr lang="en-US" sz="2000" b="1" dirty="0"/>
              <a:t>3. Multi-Agent Accreditation Assistant</a:t>
            </a:r>
            <a:br>
              <a:rPr lang="en-US" sz="2000" dirty="0"/>
            </a:br>
            <a:r>
              <a:rPr lang="en-US" sz="2000" dirty="0"/>
              <a:t>Separate agents for NBA criteria, SAR, CO–PO mapping and document verification.</a:t>
            </a:r>
          </a:p>
          <a:p>
            <a:r>
              <a:rPr lang="en-US" sz="2000" b="1" dirty="0"/>
              <a:t>4. Institutional Knowledge Base</a:t>
            </a:r>
            <a:br>
              <a:rPr lang="en-US" sz="2000" dirty="0"/>
            </a:br>
            <a:r>
              <a:rPr lang="en-US" sz="2000" dirty="0"/>
              <a:t>Integrate department-specific documents and previous accreditation records.</a:t>
            </a:r>
          </a:p>
          <a:p>
            <a:r>
              <a:rPr lang="en-US" sz="2000" b="1" dirty="0"/>
              <a:t>5. Multilingual Support</a:t>
            </a:r>
            <a:br>
              <a:rPr lang="en-US" sz="2000" dirty="0"/>
            </a:br>
            <a:r>
              <a:rPr lang="en-US" sz="2000" dirty="0"/>
              <a:t>Allow faculty to interact with the system in multiple languages.</a:t>
            </a:r>
          </a:p>
          <a:p>
            <a:r>
              <a:rPr lang="en-US" sz="2000" b="1" dirty="0"/>
              <a:t>6. Continuous Knowledge Updates</a:t>
            </a:r>
            <a:br>
              <a:rPr lang="en-US" sz="2000" dirty="0"/>
            </a:br>
            <a:r>
              <a:rPr lang="en-US" sz="2000" dirty="0"/>
              <a:t>Update the knowledge base when new NBA guidelines or formats become available.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EF93C9-D12F-4227-DDFF-D32025C0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92" y="979715"/>
            <a:ext cx="7206394" cy="567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418BF7-2256-89F3-A6A3-B680341F3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71" y="800470"/>
            <a:ext cx="8884858" cy="564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824</Words>
  <Application>Microsoft Office PowerPoint</Application>
  <PresentationFormat>Widescreen</PresentationFormat>
  <Paragraphs>118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Anushree RJ</cp:lastModifiedBy>
  <cp:revision>100</cp:revision>
  <dcterms:created xsi:type="dcterms:W3CDTF">2025-07-08T05:06:56Z</dcterms:created>
  <dcterms:modified xsi:type="dcterms:W3CDTF">2026-09-11T13:15:20Z</dcterms:modified>
</cp:coreProperties>
</file>